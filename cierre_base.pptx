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0" y="4607642"/>
            <a:ext cx="86868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88" b="1" dirty="0">
                <a:solidFill>
                  <a:srgbClr val="000000"/>
                </a:solidFill>
                <a:latin typeface="Arial Nova Light"/>
              </a:rPr>
              <a:t>Cierre semanal del 25 de Junio al 2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
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93268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96012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127101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0233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71323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25 de Junio al 2 de Julio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73152" y="1554480"/>
          <a:ext cx="8741664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8952"/>
                <a:gridCol w="2468880"/>
                <a:gridCol w="667512"/>
                <a:gridCol w="667512"/>
                <a:gridCol w="530352"/>
                <a:gridCol w="594360"/>
                <a:gridCol w="2212848"/>
                <a:gridCol w="841248"/>
              </a:tblGrid>
              <a:tr h="201168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INICIO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FIN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REAL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% ESPERADO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BARRA DE AVANCE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SEMÁFORO</a:t>
                      </a:r>
                    </a:p>
                  </a:txBody>
                  <a:tcPr>
                    <a:solidFill>
                      <a:srgbClr val="C9A84C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Mecánica Mx (Mejoras)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98%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8000">
                          <a:srgbClr val="22C55E"/>
                        </a:gs>
                        <a:gs pos="98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Administración || AdContent - Catálogos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Soporte – Incidencia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29/05/2026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Campos Personalizados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26/02/2026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TRIM || Marketplace || Caddi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04/08/2026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97%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7000">
                          <a:srgbClr val="22C55E"/>
                        </a:gs>
                        <a:gs pos="97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14/08/2025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5000">
                          <a:srgbClr val="EF4444"/>
                        </a:gs>
                        <a:gs pos="95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Desarrollos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Lobby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11/11/2025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29/06/2026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Nexcar || Desarrollo Status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05/03/2026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10/07/2026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91%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99000">
                          <a:srgbClr val="22C55E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Data Lab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20/01/2026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22/06/2026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Cartera || Cambio de Pac de Timbrado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07/07/2025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25/02/2026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Operaciones Fleet || Nueva Instancia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08/08/2025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01/06/2026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22C5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Terminado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Tesoreria || Adcontent H2H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07/04/2026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26/08/2026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58%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22%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22000">
                          <a:srgbClr val="EF4444"/>
                        </a:gs>
                        <a:gs pos="22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Talleres || Integración Mecanica Mx - SAE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20/07/2026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74%</a:t>
                      </a:r>
                    </a:p>
                  </a:txBody>
                  <a:tcPr>
                    <a:gradFill>
                      <a:gsLst>
                        <a:gs pos="0">
                          <a:srgbClr val="F59E0B"/>
                        </a:gs>
                        <a:gs pos="74000">
                          <a:srgbClr val="F59E0B"/>
                        </a:gs>
                        <a:gs pos="74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F59E0B"/>
                          </a:solidFill>
                          <a:latin typeface="Calibri"/>
                        </a:rPr>
                        <a:t>Riesgo de atraso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Contabilidad || Integración Mecanica-SAE (Fase 2)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21/04/2026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12/06/2026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>
                    <a:gradFill>
                      <a:gsLst>
                        <a:gs pos="0">
                          <a:srgbClr val="EF4444"/>
                        </a:gs>
                        <a:gs pos="99000">
                          <a:srgbClr val="EF4444"/>
                        </a:gs>
                        <a:gs pos="9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EF4444"/>
                          </a:solidFill>
                          <a:latin typeface="Calibri"/>
                        </a:rPr>
                        <a:t>Atrasado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Proyecto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>
                          <a:solidFill>
                            <a:srgbClr val="1A2340"/>
                          </a:solidFill>
                          <a:latin typeface="Calibri"/>
                        </a:rPr>
                        <a:t>Capital Humano || BUK Personalizados Fase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08/06/2026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11/08/2026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1A2340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0">
                          <a:solidFill>
                            <a:srgbClr val="555555"/>
                          </a:solidFill>
                          <a:latin typeface="Calibri"/>
                        </a:rPr>
                        <a:t>32%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39%</a:t>
                      </a:r>
                    </a:p>
                  </a:txBody>
                  <a:tcPr>
                    <a:gradFill>
                      <a:gsLst>
                        <a:gs pos="0">
                          <a:srgbClr val="22C55E"/>
                        </a:gs>
                        <a:gs pos="39000">
                          <a:srgbClr val="22C55E"/>
                        </a:gs>
                        <a:gs pos="39500">
                          <a:srgbClr val="E2E2E2"/>
                        </a:gs>
                        <a:gs pos="100000">
                          <a:srgbClr val="E2E2E2"/>
                        </a:gs>
                      </a:gsLst>
                      <a:lin ang="0" scaled="0"/>
                    </a:gra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>
                          <a:solidFill>
                            <a:srgbClr val="22C55E"/>
                          </a:solidFill>
                          <a:latin typeface="Calibri"/>
                        </a:rPr>
                        <a:t>A tiempo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b="1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Tesoreria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eventualdiad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Data Lab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dasdasdasdasd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Nueva Instancia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ggdgsefreheh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420000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Migración oficinas Tlalnepantla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457200" rtl="0" eaLnBrk="1" fontAlgn="b" latinLnBrk="0" hangingPunct="1">
                        <a:buNone/>
                      </a:pPr>
                      <a:r>
                        <a:rPr lang="es-MX" sz="10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documetacnion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