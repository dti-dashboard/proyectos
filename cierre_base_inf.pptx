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663" r:id="rId5"/>
  </p:sldMasterIdLst>
  <p:notesMasterIdLst>
    <p:notesMasterId r:id="rId10"/>
  </p:notesMasterIdLst>
  <p:sldIdLst>
    <p:sldId id="4370" r:id="rId6"/>
    <p:sldId id="4378" r:id="rId7"/>
    <p:sldId id="4377" r:id="rId8"/>
    <p:sldId id="259" r:id="rId9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BA866"/>
    <a:srgbClr val="6EADFA"/>
    <a:srgbClr val="111827"/>
    <a:srgbClr val="22D3A0"/>
    <a:srgbClr val="FBBF24"/>
    <a:srgbClr val="F87171"/>
    <a:srgbClr val="0F1A2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434ED18-3879-469D-B443-065600D2442C}" v="49" dt="2026-06-05T16:01:51.35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182" autoAdjust="0"/>
    <p:restoredTop sz="94660"/>
  </p:normalViewPr>
  <p:slideViewPr>
    <p:cSldViewPr snapToGrid="0">
      <p:cViewPr varScale="1">
        <p:scale>
          <a:sx n="78" d="100"/>
          <a:sy n="78" d="100"/>
        </p:scale>
        <p:origin x="840" y="5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microsoft.com/office/2015/10/relationships/revisionInfo" Target="revisionInfo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C8A422D-7919-4469-A421-F204710A50F2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MX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A453916-50AB-4813-A2D5-F7D7D00AA20E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407849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emf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2.emf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eg"/><Relationship Id="rId3" Type="http://schemas.openxmlformats.org/officeDocument/2006/relationships/image" Target="../media/image2.emf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e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jpeg"/><Relationship Id="rId3" Type="http://schemas.openxmlformats.org/officeDocument/2006/relationships/image" Target="../media/image2.emf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id="{91EA55C6-DD8F-6134-22C0-2D504ED69F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8D7E6825-D4E6-703E-A4B6-58197DE494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999561" y="3412475"/>
            <a:ext cx="4932803" cy="380083"/>
          </a:xfrm>
        </p:spPr>
        <p:txBody>
          <a:bodyPr anchor="ctr">
            <a:noAutofit/>
          </a:bodyPr>
          <a:lstStyle>
            <a:lvl1pPr algn="ctr">
              <a:defRPr sz="4500" b="1">
                <a:solidFill>
                  <a:schemeClr val="tx1"/>
                </a:solidFill>
                <a:latin typeface="Myriad Pro" panose="020B0503030403020204" pitchFamily="34" charset="0"/>
              </a:defRPr>
            </a:lvl1pPr>
          </a:lstStyle>
          <a:p>
            <a:r>
              <a:rPr lang="es-MX"/>
              <a:t>Título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0A494E5-B1C4-6885-4169-BA78D232E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9FA044-1254-4343-80B6-98CB1B2B6222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3DDE57A-082A-EED7-3DE2-3EC4E8D34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C622861-373F-18DD-9C0E-4C36ACBD1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B7EA-4686-7A48-A48B-A82F15C2593E}" type="slidenum">
              <a:rPr lang="es-MX" smtClean="0"/>
              <a:t>‹Nº›</a:t>
            </a:fld>
            <a:endParaRPr lang="es-MX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B575050A-A954-581A-882C-A0BA421D7F8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329410" y="264408"/>
            <a:ext cx="3690649" cy="27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132189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E4974841-2D19-E120-77A9-E096B267BE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7CB61A7B-A82C-C94D-3506-3442A66C81B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23942" y="4749284"/>
            <a:ext cx="3690649" cy="27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679703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id="{91EA55C6-DD8F-6134-22C0-2D504ED69F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8D7E6825-D4E6-703E-A4B6-58197DE494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999561" y="3412475"/>
            <a:ext cx="4932803" cy="380083"/>
          </a:xfrm>
        </p:spPr>
        <p:txBody>
          <a:bodyPr anchor="ctr">
            <a:noAutofit/>
          </a:bodyPr>
          <a:lstStyle>
            <a:lvl1pPr algn="ctr">
              <a:defRPr sz="4500" b="1">
                <a:solidFill>
                  <a:schemeClr val="tx1"/>
                </a:solidFill>
                <a:latin typeface="Myriad Pro" panose="020B0503030403020204" pitchFamily="34" charset="0"/>
              </a:defRPr>
            </a:lvl1pPr>
          </a:lstStyle>
          <a:p>
            <a:r>
              <a:rPr lang="es-MX"/>
              <a:t>Título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0A494E5-B1C4-6885-4169-BA78D232E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9FA044-1254-4343-80B6-98CB1B2B6222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3DDE57A-082A-EED7-3DE2-3EC4E8D34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C622861-373F-18DD-9C0E-4C36ACBD1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B7EA-4686-7A48-A48B-A82F15C2593E}" type="slidenum">
              <a:rPr lang="es-MX" smtClean="0"/>
              <a:t>‹Nº›</a:t>
            </a:fld>
            <a:endParaRPr lang="es-MX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B575050A-A954-581A-882C-A0BA421D7F8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329410" y="264408"/>
            <a:ext cx="3690649" cy="27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22213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>
            <a:extLst>
              <a:ext uri="{FF2B5EF4-FFF2-40B4-BE49-F238E27FC236}">
                <a16:creationId xmlns:a16="http://schemas.microsoft.com/office/drawing/2014/main" id="{95A4C693-4F46-E18A-F2B7-EAF345D4DC5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F711B6D9-3861-AF64-20C7-DC6A360A169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05227" y="256143"/>
            <a:ext cx="3441338" cy="561860"/>
          </a:xfrm>
        </p:spPr>
        <p:txBody>
          <a:bodyPr anchor="ctr">
            <a:noAutofit/>
          </a:bodyPr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chemeClr val="bg1"/>
                </a:solidFill>
                <a:latin typeface="Myriad Pro" panose="020B0503030403020204" pitchFamily="34" charset="0"/>
              </a:defRPr>
            </a:lvl1pPr>
          </a:lstStyle>
          <a:p>
            <a:r>
              <a:rPr lang="es-MX"/>
              <a:t>Título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8653F786-4E82-07F7-4785-13AF108EE0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1627743"/>
            <a:ext cx="7886700" cy="2939495"/>
          </a:xfrm>
        </p:spPr>
        <p:txBody>
          <a:bodyPr>
            <a:normAutofit/>
          </a:bodyPr>
          <a:lstStyle>
            <a:lvl1pPr marL="0" indent="0">
              <a:buNone/>
              <a:defRPr sz="1500">
                <a:solidFill>
                  <a:schemeClr val="tx1">
                    <a:tint val="82000"/>
                  </a:schemeClr>
                </a:solidFill>
                <a:latin typeface="Myriad Pro" panose="020B0503030403020204" pitchFamily="34" charset="0"/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2819A2F-AD22-BA20-D98A-DD70C8006B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026D68-6D58-144D-80B3-959862FD6C87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2F3114E-3E85-1EAC-81A5-59C789F286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B210E22-8218-8167-5591-024BA44A13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184217-79B6-2141-8354-0324AE90ED69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53939608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E4974841-2D19-E120-77A9-E096B267BE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7CB61A7B-A82C-C94D-3506-3442A66C81B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23942" y="4749284"/>
            <a:ext cx="3690649" cy="27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931041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n 10">
            <a:extLst>
              <a:ext uri="{FF2B5EF4-FFF2-40B4-BE49-F238E27FC236}">
                <a16:creationId xmlns:a16="http://schemas.microsoft.com/office/drawing/2014/main" id="{6AF7841F-5D29-B639-D1A0-A1E0FD6964D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D448A1AC-B588-1962-D3BB-1D0CF1DAA4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7533" y="921638"/>
            <a:ext cx="8608937" cy="3300226"/>
          </a:xfrm>
        </p:spPr>
        <p:txBody>
          <a:bodyPr>
            <a:normAutofit/>
          </a:bodyPr>
          <a:lstStyle>
            <a:lvl1pPr marL="0" indent="0">
              <a:buNone/>
              <a:defRPr sz="1500">
                <a:solidFill>
                  <a:schemeClr val="tx1">
                    <a:tint val="82000"/>
                  </a:schemeClr>
                </a:solidFill>
                <a:latin typeface="Myriad Pro" panose="020B0503030403020204" pitchFamily="34" charset="0"/>
              </a:defRPr>
            </a:lvl1pPr>
            <a:lvl2pPr marL="342892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783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675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566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457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348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24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132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47682EE-CDC1-21CA-BDB2-DE7E161A9C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9FA044-1254-4343-80B6-98CB1B2B6222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C8BED20-BD46-6373-71D5-9D81CE9AD8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48B0023-703B-86DF-61C5-23620FA3EC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B7EA-4686-7A48-A48B-A82F15C2593E}" type="slidenum">
              <a:rPr lang="es-MX" smtClean="0"/>
              <a:t>‹Nº›</a:t>
            </a:fld>
            <a:endParaRPr lang="es-MX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E39034F-0B5F-6729-B8AB-82A808E43D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4856" y="256144"/>
            <a:ext cx="3891710" cy="561860"/>
          </a:xfrm>
        </p:spPr>
        <p:txBody>
          <a:bodyPr anchor="ctr">
            <a:noAutofit/>
          </a:bodyPr>
          <a:lstStyle>
            <a:lvl1pPr marL="0" marR="0" indent="0" algn="l" defTabSz="685783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chemeClr val="tx1"/>
                </a:solidFill>
                <a:latin typeface="Myriad Pro" panose="020B0503030403020204" pitchFamily="34" charset="0"/>
              </a:defRPr>
            </a:lvl1pPr>
          </a:lstStyle>
          <a:p>
            <a:r>
              <a:rPr lang="es-MX"/>
              <a:t>Título</a:t>
            </a:r>
          </a:p>
        </p:txBody>
      </p:sp>
    </p:spTree>
    <p:extLst>
      <p:ext uri="{BB962C8B-B14F-4D97-AF65-F5344CB8AC3E}">
        <p14:creationId xmlns:p14="http://schemas.microsoft.com/office/powerpoint/2010/main" val="382307173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7.xml"/><Relationship Id="rId5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35445882-2909-9338-A9AA-98B1DE84E4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6EE9E0EB-92F7-2285-1830-2BE9CC7B0F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5CCEA03-E258-C913-F1EB-3A5EDD7601F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7026D68-6D58-144D-80B3-959862FD6C87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5376C7E-1183-19B3-FC12-E2E339E4A31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E996322-95D2-90D9-257B-C33380E5AE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4184217-79B6-2141-8354-0324AE90ED69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363024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7" r:id="rId3"/>
    <p:sldLayoutId id="2147483668" r:id="rId4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MX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9FAD79-2FCD-D300-939B-AAC79167C49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1475" y="3559432"/>
            <a:ext cx="8401050" cy="380083"/>
          </a:xfrm>
        </p:spPr>
        <p:txBody>
          <a:bodyPr/>
          <a:lstStyle/>
          <a:p>
            <a:r>
              <a:rPr lang="es-MX" sz="2400"/>
              <a:t>Dirección de Soporte e Infraestructura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A27389E-3F64-60D8-4F3F-88435F1838CF}"/>
              </a:ext>
            </a:extLst>
          </p:cNvPr>
          <p:cNvSpPr txBox="1"/>
          <p:nvPr/>
        </p:nvSpPr>
        <p:spPr>
          <a:xfrm>
            <a:off x="1920240" y="4607642"/>
            <a:ext cx="6858000" cy="282834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pPr algn="r"/>
            <a:r>
              <a:rPr lang="es-MX" sz="1390" b="1" dirty="0">
                <a:solidFill>
                  <a:srgbClr val="000000"/>
                </a:solidFill>
                <a:latin typeface="Arial Nova Light"/>
              </a:rPr>
              <a:t>Cierre semanal del 16 de Julio al 23 de Julio</a:t>
            </a:r>
            <a:endParaRPr lang="es-MX" sz="1400" b="1" dirty="0">
              <a:solidFill>
                <a:srgbClr val="000000"/>
              </a:solidFill>
              <a:latin typeface="Arial Nova Light" panose="020B03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771308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7315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Total de proyectos</a:t>
            </a:r>
          </a:p>
        </p:txBody>
      </p:sp>
      <p:sp>
        <p:nvSpPr>
          <p:cNvPr id="6" name="Rectangle 5"/>
          <p:cNvSpPr/>
          <p:nvPr/>
        </p:nvSpPr>
        <p:spPr>
          <a:xfrm>
            <a:off x="135331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5331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5331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Terminado</a:t>
            </a:r>
          </a:p>
        </p:txBody>
      </p:sp>
      <p:sp>
        <p:nvSpPr>
          <p:cNvPr id="9" name="Rectangle 8"/>
          <p:cNvSpPr/>
          <p:nvPr/>
        </p:nvSpPr>
        <p:spPr>
          <a:xfrm>
            <a:off x="263347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3347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3347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A tiempo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13631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13631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13631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En riesgo de atraso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9379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9379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9379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Atrasados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7395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395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Por cerrar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54111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54111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54111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Stand By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36576"/>
            <a:ext cx="59436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>
                <a:solidFill>
                  <a:srgbClr val="1A2340"/>
                </a:solidFill>
                <a:latin typeface="Calibri"/>
              </a:rPr>
              <a:t>SOPORTE E INFRAESTRUCTURA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0" y="347472"/>
            <a:ext cx="9144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>
                <a:solidFill>
                  <a:srgbClr val="555555"/>
                </a:solidFill>
                <a:latin typeface="Calibri"/>
              </a:rPr>
              <a:t>Cierre semanal del 16 de Julio al 23 de Julio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" y="1188720"/>
            <a:ext cx="8741664" cy="201168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" y="1188720"/>
            <a:ext cx="72237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TIPO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392" y="1188720"/>
            <a:ext cx="2432304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19272" y="1188720"/>
            <a:ext cx="630936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INICIO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86783" y="1188720"/>
            <a:ext cx="630936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FIN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54296" y="1188720"/>
            <a:ext cx="49377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% REAL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84648" y="1188720"/>
            <a:ext cx="557784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% ESPERADO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79008" y="1188720"/>
            <a:ext cx="2176272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BARRA DE AVANCE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91856" y="1188720"/>
            <a:ext cx="804672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SEMÁFORO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3152" y="1389888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" y="1389888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0392" y="1389888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Migración oficinas Tlalnepantla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19272" y="1389888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01/03/2026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86783" y="1389888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30/07/2026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54296" y="1389888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78%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184648" y="1389888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80%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91856" y="1389888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A tiempo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806440" y="1432064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5806440" y="1432064"/>
            <a:ext cx="1319479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543800" y="1400060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78%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3152" y="1577340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1440" y="1577340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0392" y="1577340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Renovación Firewall / VPN Corporativa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319272" y="1577340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15/02/2026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986783" y="1577340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30/06/2026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54296" y="1577340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50%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184648" y="1577340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65%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991856" y="1577340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F59E0B"/>
                </a:solidFill>
                <a:latin typeface="Calibri"/>
              </a:rPr>
              <a:t>Riesgo de atraso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806440" y="1619516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F59E0B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5806440" y="1619516"/>
            <a:ext cx="845820" cy="103098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>
            <a:outerShdw blurRad="76200" dist="19050" dir="5400000" rotWithShape="0">
              <a:srgbClr val="F59E0B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543800" y="1587512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59E0B"/>
                </a:solidFill>
                <a:latin typeface="Calibri"/>
              </a:rPr>
              <a:t>50%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52" y="1764792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1440" y="1764792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Mejoras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50392" y="1764792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Data Center Azure — Zona 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319272" y="1764792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01/04/2026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986783" y="1764792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31/12/2026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654296" y="1764792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35%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184648" y="1764792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35%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991856" y="1764792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A tiempo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806440" y="1806968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5806440" y="1806968"/>
            <a:ext cx="592074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543800" y="1774964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35%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" y="1952243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1440" y="1952243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50392" y="1952243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Actualización CCTV y Biométricos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319272" y="1952243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01/01/2026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986783" y="1952243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28/02/2026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654296" y="1952243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184648" y="1952243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991856" y="1952243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5806440" y="1994420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5806440" y="1994420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543800" y="1962416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3152" y="2139696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1440" y="2139696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Mejoras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50392" y="2139696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Red estructurada — Edificio B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319272" y="2139696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15/04/2026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986783" y="2139696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31/08/2026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654296" y="2139696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20%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184648" y="2139696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40%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991856" y="2139696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EF4444"/>
                </a:solidFill>
                <a:latin typeface="Calibri"/>
              </a:rPr>
              <a:t>Atrasado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5806440" y="2181872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EF4444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5806440" y="2181872"/>
            <a:ext cx="338328" cy="103098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>
            <a:outerShdw blurRad="76200" dist="19050" dir="5400000" rotWithShape="0">
              <a:srgbClr val="EF4444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543800" y="2149868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EF4444"/>
                </a:solidFill>
                <a:latin typeface="Calibri"/>
              </a:rPr>
              <a:t>20%</a:t>
            </a:r>
          </a:p>
        </p:txBody>
      </p:sp>
    </p:spTree>
    <p:extLst>
      <p:ext uri="{BB962C8B-B14F-4D97-AF65-F5344CB8AC3E}">
        <p14:creationId xmlns:p14="http://schemas.microsoft.com/office/powerpoint/2010/main" val="2749446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8EFE9-8041-2FFE-81C8-A682DCD3E1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23">
            <a:extLst>
              <a:ext uri="{FF2B5EF4-FFF2-40B4-BE49-F238E27FC236}">
                <a16:creationId xmlns:a16="http://schemas.microsoft.com/office/drawing/2014/main" id="{985CF734-9D1A-F7C8-DC46-B51363CC546C}"/>
              </a:ext>
            </a:extLst>
          </p:cNvPr>
          <p:cNvSpPr txBox="1"/>
          <p:nvPr/>
        </p:nvSpPr>
        <p:spPr>
          <a:xfrm>
            <a:off x="153810" y="852807"/>
            <a:ext cx="444641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s-MX" b="1" dirty="0">
                <a:latin typeface="Aptos (cuerpo)"/>
              </a:rPr>
              <a:t>Eventualidades de proyectos con atraso</a:t>
            </a:r>
            <a:endParaRPr lang="es-MX" b="1" dirty="0">
              <a:highlight>
                <a:srgbClr val="FFFF00"/>
              </a:highlight>
              <a:latin typeface="Aptos (cuerpo)"/>
            </a:endParaRPr>
          </a:p>
        </p:txBody>
      </p:sp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97DD05FB-5013-817F-9D1D-E2128451572E}"/>
              </a:ext>
            </a:extLst>
          </p:cNvPr>
          <p:cNvGraphicFramePr>
            <a:graphicFrameLocks noGrp="1"/>
          </p:cNvGraphicFramePr>
          <p:nvPr/>
        </p:nvGraphicFramePr>
        <p:xfrm>
          <a:off x="202299" y="1460411"/>
          <a:ext cx="8782006" cy="329705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17882">
                  <a:extLst>
                    <a:ext uri="{9D8B030D-6E8A-4147-A177-3AD203B41FA5}">
                      <a16:colId xmlns:a16="http://schemas.microsoft.com/office/drawing/2014/main" val="2910388281"/>
                    </a:ext>
                  </a:extLst>
                </a:gridCol>
                <a:gridCol w="3298994">
                  <a:extLst>
                    <a:ext uri="{9D8B030D-6E8A-4147-A177-3AD203B41FA5}">
                      <a16:colId xmlns:a16="http://schemas.microsoft.com/office/drawing/2014/main" val="3428890333"/>
                    </a:ext>
                  </a:extLst>
                </a:gridCol>
                <a:gridCol w="5065130">
                  <a:extLst>
                    <a:ext uri="{9D8B030D-6E8A-4147-A177-3AD203B41FA5}">
                      <a16:colId xmlns:a16="http://schemas.microsoft.com/office/drawing/2014/main" val="2728184935"/>
                    </a:ext>
                  </a:extLst>
                </a:gridCol>
              </a:tblGrid>
              <a:tr h="520138">
                <a:tc>
                  <a:txBody>
                    <a:bodyPr/>
                    <a:lstStyle/>
                    <a:p>
                      <a:pPr marL="0" algn="ctr" defTabSz="457200" rtl="0" eaLnBrk="1" fontAlgn="b" latinLnBrk="0" hangingPunct="1">
                        <a:buNone/>
                      </a:pPr>
                      <a:r>
                        <a:rPr lang="es-MX" sz="11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No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fontAlgn="b" latinLnBrk="0" hangingPunct="1">
                        <a:buNone/>
                      </a:pPr>
                      <a:r>
                        <a:rPr lang="es-MX" sz="11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Proyecto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Eventualidades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4057675"/>
                  </a:ext>
                </a:extLst>
              </a:tr>
              <a:tr h="34914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1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sz="110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Cartera || Cambio de PAC de timbrado (ATEB)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Pendiente de Firma de convenio de Lumo, Firma de AyO pendiente de firma de Representante Legal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8437908"/>
                  </a:ext>
                </a:extLst>
              </a:tr>
              <a:tr h="52059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2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Contabilidad || Integración Mecánica – SAE (Fase 1-2)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100" b="0" i="0" u="none" strike="noStrike" kern="1200" noProof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Se tuvieron imprevistos en la carga del catálogo de refacciones en Mecanica Mx</a:t>
                      </a:r>
                    </a:p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100" b="0" i="0" u="none" strike="noStrike" kern="1200" noProof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Actualización del catálogo de proveedores.</a:t>
                      </a:r>
                      <a:endParaRPr lang="es-MX" sz="1100" b="0" i="0" u="none" strike="noStrike" kern="1200">
                        <a:solidFill>
                          <a:schemeClr val="tx1"/>
                        </a:solidFill>
                        <a:effectLst/>
                        <a:latin typeface="Aptos (cuerpo)"/>
                        <a:ea typeface="+mn-ea"/>
                        <a:cs typeface="+mn-cs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2980361"/>
                  </a:ext>
                </a:extLst>
              </a:tr>
              <a:tr h="71845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3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s-MX" sz="110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TRIM || MarketPlace || Caddi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800" b="0" i="0" u="none" strike="noStrike" noProof="0">
                          <a:solidFill>
                            <a:schemeClr val="tx1"/>
                          </a:solidFill>
                          <a:effectLst/>
                          <a:latin typeface="Segoe UI"/>
                          <a:cs typeface="Segoe UI"/>
                        </a:rPr>
                        <a:t>E</a:t>
                      </a:r>
                      <a:r>
                        <a:rPr lang="es-MX" sz="1100" u="none" strike="noStrike" kern="1200" noProof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xistió un retraso en la carga del código AMI en Intelimotor.</a:t>
                      </a:r>
                      <a:endParaRPr lang="es-ES" sz="1100" u="none" strike="noStrike" kern="1200" noProof="0">
                        <a:solidFill>
                          <a:schemeClr val="tx1"/>
                        </a:solidFill>
                        <a:effectLst/>
                        <a:latin typeface="Aptos (cuerpo)"/>
                        <a:ea typeface="+mn-ea"/>
                        <a:cs typeface="+mn-cs"/>
                      </a:endParaRPr>
                    </a:p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100" u="none" strike="noStrike" kern="1200" noProof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Seguros Ana tardó en realizar la validación de los XML de prueba.</a:t>
                      </a:r>
                      <a:endParaRPr lang="es-MX" sz="1100" u="none" strike="noStrike" kern="1200">
                        <a:solidFill>
                          <a:schemeClr val="tx1"/>
                        </a:solidFill>
                        <a:effectLst/>
                        <a:latin typeface="Aptos (cuerpo)"/>
                        <a:ea typeface="+mn-ea"/>
                        <a:cs typeface="+mn-cs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6911556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4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Operaciones Fleet || Desarrollos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fontAlgn="b">
                        <a:buFont typeface="Arial" panose="020B0604020202020204" pitchFamily="34" charset="0"/>
                        <a:buNone/>
                      </a:pPr>
                      <a:r>
                        <a:rPr lang="es-ES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Por cargas de trabajo el usuario no ha podido concluir con las pruebas de certificación de Roles y Permisos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72086280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5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Tesorería || Adcontent H2H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fontAlgn="b">
                        <a:buFont typeface="Arial" panose="020B0604020202020204" pitchFamily="34" charset="0"/>
                        <a:buNone/>
                      </a:pPr>
                      <a:r>
                        <a:rPr lang="es-MX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Pendiente Autorización de Dirección de Finanzas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77808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483632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245445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Diseño personalizado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ec0e631-0115-4aa2-b325-e35da8bc1157">
      <Terms xmlns="http://schemas.microsoft.com/office/infopath/2007/PartnerControls"/>
    </lcf76f155ced4ddcb4097134ff3c332f>
    <id0 xmlns="5ec0e631-0115-4aa2-b325-e35da8bc1157" xsi:nil="true"/>
    <TaxCatchAll xmlns="c4be84e9-ad72-42e9-9325-7cb3e83c5359" xsi:nil="true"/>
    <_Flow_SignoffStatus xmlns="5ec0e631-0115-4aa2-b325-e35da8bc1157" xsi:nil="true"/>
    <Aprobador xmlns="5ec0e631-0115-4aa2-b325-e35da8bc1157">
      <UserInfo>
        <DisplayName/>
        <AccountId xsi:nil="true"/>
        <AccountType/>
      </UserInfo>
    </Aprobador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04FF43CDF08F6440A1F1A99854740847" ma:contentTypeVersion="19" ma:contentTypeDescription="Crear nuevo documento." ma:contentTypeScope="" ma:versionID="36345ead785e5e95854362ebc1a7f665">
  <xsd:schema xmlns:xsd="http://www.w3.org/2001/XMLSchema" xmlns:xs="http://www.w3.org/2001/XMLSchema" xmlns:p="http://schemas.microsoft.com/office/2006/metadata/properties" xmlns:ns2="5ec0e631-0115-4aa2-b325-e35da8bc1157" xmlns:ns3="c4be84e9-ad72-42e9-9325-7cb3e83c5359" targetNamespace="http://schemas.microsoft.com/office/2006/metadata/properties" ma:root="true" ma:fieldsID="b08145743ca8d0102314d44d7c23bcf1" ns2:_="" ns3:_="">
    <xsd:import namespace="5ec0e631-0115-4aa2-b325-e35da8bc1157"/>
    <xsd:import namespace="c4be84e9-ad72-42e9-9325-7cb3e83c5359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Location" minOccurs="0"/>
                <xsd:element ref="ns2:MediaServiceSearchProperties" minOccurs="0"/>
                <xsd:element ref="ns2:id0" minOccurs="0"/>
                <xsd:element ref="ns2:_Flow_SignoffStatus" minOccurs="0"/>
                <xsd:element ref="ns2:Aprobador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ec0e631-0115-4aa2-b325-e35da8bc115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3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8" nillable="true" ma:taxonomy="true" ma:internalName="lcf76f155ced4ddcb4097134ff3c332f" ma:taxonomyFieldName="MediaServiceImageTags" ma:displayName="Etiquetas de imagen" ma:readOnly="false" ma:fieldId="{5cf76f15-5ced-4ddc-b409-7134ff3c332f}" ma:taxonomyMulti="true" ma:sspId="8834a441-fa3b-44b8-a010-15bd89cb74b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21" nillable="true" ma:displayName="Location" ma:description="" ma:indexed="true" ma:internalName="MediaServiceLocation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id0" ma:index="23" nillable="true" ma:displayName="id" ma:decimals="0" ma:description="id de requerimiento" ma:format="Dropdown" ma:internalName="id0" ma:percentage="FALSE">
      <xsd:simpleType>
        <xsd:restriction base="dms:Number"/>
      </xsd:simpleType>
    </xsd:element>
    <xsd:element name="_Flow_SignoffStatus" ma:index="24" nillable="true" ma:displayName="Estado de aprobación" ma:internalName="_x0024_Resources_x003a_core_x002c_Signoff_Status">
      <xsd:simpleType>
        <xsd:restriction base="dms:Text"/>
      </xsd:simpleType>
    </xsd:element>
    <xsd:element name="Aprobador" ma:index="25" nillable="true" ma:displayName="Aprobador" ma:description="Aprobador de documento" ma:format="Dropdown" ma:list="UserInfo" ma:SharePointGroup="0" ma:internalName="Aprobado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4be84e9-ad72-42e9-9325-7cb3e83c5359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Compartid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Detalles de uso compartido" ma:internalName="SharedWithDetails" ma:readOnly="true">
      <xsd:simpleType>
        <xsd:restriction base="dms:Note">
          <xsd:maxLength value="255"/>
        </xsd:restriction>
      </xsd:simpleType>
    </xsd:element>
    <xsd:element name="TaxCatchAll" ma:index="19" nillable="true" ma:displayName="Taxonomy Catch All Column" ma:hidden="true" ma:list="{832b7c09-4aae-4a05-ba98-f7962d39acc2}" ma:internalName="TaxCatchAll" ma:showField="CatchAllData" ma:web="c4be84e9-ad72-42e9-9325-7cb3e83c535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11D8C067-F2CA-4E2D-84AE-65F44561D919}">
  <ds:schemaRefs>
    <ds:schemaRef ds:uri="http://purl.org/dc/elements/1.1/"/>
    <ds:schemaRef ds:uri="5ec0e631-0115-4aa2-b325-e35da8bc1157"/>
    <ds:schemaRef ds:uri="c4be84e9-ad72-42e9-9325-7cb3e83c5359"/>
    <ds:schemaRef ds:uri="http://www.w3.org/XML/1998/namespace"/>
    <ds:schemaRef ds:uri="http://schemas.microsoft.com/office/2006/documentManagement/types"/>
    <ds:schemaRef ds:uri="http://purl.org/dc/dcmitype/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D3B017FA-E3D9-408C-B068-F9490265D9C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ec0e631-0115-4aa2-b325-e35da8bc1157"/>
    <ds:schemaRef ds:uri="c4be84e9-ad72-42e9-9325-7cb3e83c535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9315BF7-524B-4E01-980F-F11208821597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336</TotalTime>
  <Words>148</Words>
  <Application>Microsoft Office PowerPoint</Application>
  <PresentationFormat>Presentación en pantalla (16:9)</PresentationFormat>
  <Paragraphs>23</Paragraphs>
  <Slides>4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8</vt:i4>
      </vt:variant>
      <vt:variant>
        <vt:lpstr>Tema</vt:lpstr>
      </vt:variant>
      <vt:variant>
        <vt:i4>2</vt:i4>
      </vt:variant>
      <vt:variant>
        <vt:lpstr>Títulos de diapositiva</vt:lpstr>
      </vt:variant>
      <vt:variant>
        <vt:i4>4</vt:i4>
      </vt:variant>
    </vt:vector>
  </HeadingPairs>
  <TitlesOfParts>
    <vt:vector size="14" baseType="lpstr">
      <vt:lpstr>Aptos</vt:lpstr>
      <vt:lpstr>Aptos (cuerpo)</vt:lpstr>
      <vt:lpstr>Aptos Display</vt:lpstr>
      <vt:lpstr>Arial</vt:lpstr>
      <vt:lpstr>Arial Nova Light</vt:lpstr>
      <vt:lpstr>Calibri</vt:lpstr>
      <vt:lpstr>Myriad Pro</vt:lpstr>
      <vt:lpstr>Segoe UI</vt:lpstr>
      <vt:lpstr>Office Theme</vt:lpstr>
      <vt:lpstr>Diseño personalizado</vt:lpstr>
      <vt:lpstr>Dirección de Implementación y Mejora Continua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Josue Montoya Martinez</dc:creator>
  <cp:keywords/>
  <cp:lastModifiedBy>Josue Montoya Martinez</cp:lastModifiedBy>
  <cp:revision>2</cp:revision>
  <dcterms:created xsi:type="dcterms:W3CDTF">2013-01-27T09:14:16Z</dcterms:created>
  <dcterms:modified xsi:type="dcterms:W3CDTF">2026-06-05T16:05:29Z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0x01010004FF43CDF08F6440A1F1A99854740847</vt:lpwstr>
  </property>
  <property fmtid="{D5CDD505-2E9C-101B-9397-08002B2CF9AE}" pid="3" name="MediaServiceImageTags">
    <vt:lpwstr/>
  </property>
</Properties>
</file>