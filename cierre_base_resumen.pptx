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</p:sldMasterIdLst>
  <p:notesMasterIdLst>
    <p:notesMasterId r:id="rId10"/>
  </p:notesMasterIdLst>
  <p:sldIdLst>
    <p:sldId id="4370" r:id="rId6"/>
    <p:sldId id="4379" r:id="rId16"/>
    <p:sldId id="4380" r:id="rId17"/>
    <p:sldId id="4381" r:id="rId18"/>
    <p:sldId id="4382" r:id="rId19"/>
    <p:sldId id="4383" r:id="rId20"/>
    <p:sldId id="4384" r:id="rId21"/>
    <p:sldId id="4385" r:id="rId22"/>
    <p:sldId id="4386" r:id="rId23"/>
    <p:sldId id="259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866"/>
    <a:srgbClr val="6EADFA"/>
    <a:srgbClr val="111827"/>
    <a:srgbClr val="22D3A0"/>
    <a:srgbClr val="FBBF24"/>
    <a:srgbClr val="F87171"/>
    <a:srgbClr val="0F1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4ED18-3879-469D-B443-065600D2442C}" v="49" dt="2026-06-05T16:01:51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A422D-7919-4469-A421-F204710A50F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53916-50AB-4813-A2D5-F7D7D00AA2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8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21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7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2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5A4C693-4F46-E18A-F2B7-EAF345D4D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11B6D9-3861-AF64-20C7-DC6A360A1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227" y="256143"/>
            <a:ext cx="3441338" cy="561860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3F786-4E82-07F7-4785-13AF108EE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27743"/>
            <a:ext cx="7886700" cy="293949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19A2F-AD22-BA20-D98A-DD70C800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F3114E-3E85-1EAC-81A5-59C789F2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210E22-8218-8167-5591-024BA44A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9396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10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AF7841F-5D29-B639-D1A0-A1E0FD6964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48A1AC-B588-1962-D3BB-1D0CF1DAA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533" y="921638"/>
            <a:ext cx="8608937" cy="3300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82EE-CDC1-21CA-BDB2-DE7E161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8BED20-BD46-6373-71D5-9D81CE9A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8B0023-703B-86DF-61C5-23620FA3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034F-0B5F-6729-B8AB-82A808E43D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4856" y="256144"/>
            <a:ext cx="3891710" cy="561860"/>
          </a:xfrm>
        </p:spPr>
        <p:txBody>
          <a:bodyPr anchor="ctr">
            <a:no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8230717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445882-2909-9338-A9AA-98B1DE84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E9E0EB-92F7-2285-1830-2BE9CC7B0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CCEA03-E258-C913-F1EB-3A5EDD760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76C7E-1183-19B3-FC12-E2E339E4A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996322-95D2-90D9-257B-C33380E5A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302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7" r:id="rId3"/>
    <p:sldLayoutId id="2147483668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FAD79-2FCD-D300-939B-AAC79167C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3559432"/>
            <a:ext cx="8401050" cy="380083"/>
          </a:xfrm>
        </p:spPr>
        <p:txBody>
          <a:bodyPr/>
          <a:lstStyle/>
          <a:p>
            <a:r>
              <a:rPr lang="es-MX" sz="2400"/>
              <a:t>Resumen Ejecutivo — Todas las Direcciones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7389E-3F64-60D8-4F3F-88435F1838CF}"/>
              </a:ext>
            </a:extLst>
          </p:cNvPr>
          <p:cNvSpPr txBox="1"/>
          <p:nvPr/>
        </p:nvSpPr>
        <p:spPr>
          <a:xfrm>
            <a:off x="1920240" y="4607642"/>
            <a:ext cx="6858000" cy="28283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r"/>
            <a:r>
              <a:rPr lang="es-MX" sz="1390" b="1" dirty="0">
                <a:solidFill>
                  <a:srgbClr val="000000"/>
                </a:solidFill>
                <a:latin typeface="Arial Nova Light"/>
              </a:rPr>
              <a:t>Cierre semanal del 16 de Julio al 23 de Julio</a:t>
            </a:r>
            <a:endParaRPr lang="es-MX" sz="1400" b="1" dirty="0">
              <a:solidFill>
                <a:srgbClr val="000000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3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096DD-8213-E4D6-FEA5-3E1E3E00F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86D011-131D-2279-6F1E-8D3FC545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6" y="0"/>
            <a:ext cx="9144396" cy="514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EFE9-8041-2FFE-81C8-A682DCD3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6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44552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Total de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31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Terminado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 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En riesgo de atraso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Por cerrar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Stand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576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2340"/>
                </a:solidFill>
                <a:latin typeface="Calibri"/>
              </a:rPr>
              <a:t>IMC — ÁREA DE IMPLEMENTACIÓN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474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Cierre semanal del 16 de Julio al 23 de Julio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1188720"/>
            <a:ext cx="8741664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188720"/>
            <a:ext cx="7223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188720"/>
            <a:ext cx="24323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FIN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1188720"/>
            <a:ext cx="4937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1188720"/>
            <a:ext cx="55778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ESPERADO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1188720"/>
            <a:ext cx="21762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BARRA DE AVANCE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1188720"/>
            <a:ext cx="8046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SEMÁFORO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138988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38988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138988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Talleres || Mecánica Mx (Mejoras)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07/04/2026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20/07/2026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296" y="138988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38988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138988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40006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" y="157734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157734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157734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Administración || AdContent - Catálogos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01/04/2026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6783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02/06/2026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157734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157734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157734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8751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" y="1764792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" y="176479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176479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Capital Humano || BUK Soporte – Incidencia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9272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02/03/2026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86783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29/05/2026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54296" y="176479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84648" y="176479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1856" y="176479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180696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806440" y="1806968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43800" y="177496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" y="1952243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" y="1952243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" y="1952243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Capital Humano || BUK Campos Personalizados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9272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26/02/2026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3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25/05/2026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4296" y="1952243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4648" y="1952243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1856" y="1952243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196241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" y="2139696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" y="213969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" y="213969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TRIM || Marketplace || Caddi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9272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07/08/2025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86783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04/08/2026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4296" y="213969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99%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84648" y="213969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91856" y="213969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806440" y="218187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806440" y="2181872"/>
            <a:ext cx="1674723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800" y="214986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99%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" y="2327148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" y="232714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" y="232714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Contabilidad || Integración Mecanica-SAE (Fase…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9272" y="232714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14/08/2025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6783" y="232714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02/06/2026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54296" y="232714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96%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84648" y="232714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91856" y="232714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806440" y="236932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806440" y="2369324"/>
            <a:ext cx="1623974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43800" y="233732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96%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152" y="2514600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" y="251460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" y="251460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Desarrollos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9272" y="251460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08/08/2025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86783" y="251460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05/06/2026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54296" y="251460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84648" y="251460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91856" y="251460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806440" y="255677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806440" y="2556776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43800" y="252477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" y="2702052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440" y="270205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0392" y="270205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Lobby Fix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2" y="270205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11/11/2025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86783" y="270205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29/06/2026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54296" y="270205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84648" y="270205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91856" y="270205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806440" y="274422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806440" y="2744228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543800" y="271222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" y="2889504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1440" y="2889504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0392" y="2889504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Nexcar || Desarrollos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9272" y="288950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05/03/2026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86783" y="288950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10/07/2026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54296" y="2889504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84648" y="2889504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91856" y="2889504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06440" y="293168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5806440" y="2931680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543800" y="289967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3152" y="3076956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440" y="307695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50392" y="307695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Data Lab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9272" y="307695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20/01/2026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86783" y="307695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22/06/2026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54296" y="307695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184648" y="307695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991856" y="307695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806440" y="311913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5806440" y="3119132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43800" y="308712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152" y="326440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440" y="326440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50392" y="326440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Cartera || Cambio de Pac de Timbrado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9272" y="326440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07/07/2025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86783" y="326440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25/02/2026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54296" y="326440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84648" y="326440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991856" y="326440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806440" y="330658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5806440" y="3306584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543800" y="327458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3152" y="345186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1440" y="345186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50392" y="345186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Nueva Instancia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319272" y="345186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08/08/2025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986783" y="345186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01/06/2026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654296" y="345186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84648" y="345186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991856" y="345186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806440" y="349403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5806440" y="3494036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543800" y="346203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3152" y="3639312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1440" y="363931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50392" y="363931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Talleres || Integración Mecanica Mx - SAE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319272" y="363931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20/04/2026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986783" y="363931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20/07/2026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54296" y="363931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91%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184648" y="363931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91856" y="363931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806440" y="368148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5806440" y="3681488"/>
            <a:ext cx="1539392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543800" y="364948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91%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3152" y="3826764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1440" y="3826764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50392" y="3826764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Contabilidad || Integración Mecanica-SAE (Fase…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319272" y="382676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21/04/2026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986783" y="382676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12/06/2026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654296" y="3826764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99%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184648" y="3826764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991856" y="3826764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5806440" y="386894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5806440" y="3868940"/>
            <a:ext cx="1674723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543800" y="383693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99%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3152" y="4014215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1440" y="4014215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50392" y="4014215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DTI || Integración de sistemas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319272" y="4014215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01/06/2026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986783" y="4014215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17/09/2026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654296" y="4014215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52%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184648" y="4014215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49%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991856" y="4014215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806440" y="405639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5806440" y="4056392"/>
            <a:ext cx="879652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543800" y="402438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52%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3152" y="4201668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1440" y="420166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50392" y="420166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Capital Humano || BUK Personalizados Fase 2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319272" y="420166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08/06/2026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986783" y="420166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06/08/2026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654296" y="420166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90%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184648" y="420166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77%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991856" y="420166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5806440" y="424384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5806440" y="4243844"/>
            <a:ext cx="1522476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543800" y="421184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90%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3152" y="4389120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1440" y="438912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50392" y="438912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Adcontent - Sfleet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319272" y="438912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15/06/2026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986783" y="438912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22/04/2027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654296" y="438912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14%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184648" y="438912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12%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91856" y="438912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5806440" y="443129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5806440" y="4431296"/>
            <a:ext cx="236829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543800" y="439929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 — IMC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Total de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31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Terminado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 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En riesgo de atraso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Por cerrar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Stand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576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2340"/>
                </a:solidFill>
                <a:latin typeface="Calibri"/>
              </a:rPr>
              <a:t>DESARROLLO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474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Cierre semanal del 16 de Julio al 23 de Julio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1188720"/>
            <a:ext cx="8741664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188720"/>
            <a:ext cx="7223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188720"/>
            <a:ext cx="24323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FIN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1188720"/>
            <a:ext cx="4937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1188720"/>
            <a:ext cx="55778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ESPERADO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1188720"/>
            <a:ext cx="21762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BARRA DE AVANCE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1188720"/>
            <a:ext cx="8046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SEMÁFORO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138988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38988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138988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Carga y depuración de documentos SFLEET-Core I…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05/02/2026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19/06/2026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296" y="138988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38988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138988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06440" y="1432064"/>
            <a:ext cx="1640890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40006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" y="157734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157734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157734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Crédito automotriz Fase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01/10/2025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6783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15/06/2026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157734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75%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157734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157734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6440" y="1619516"/>
            <a:ext cx="1268730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8751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75%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" y="1764792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" y="176479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176479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Interconexión con Plataforma Única de Identida…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9272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23/03/2026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86783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30/04/2026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54296" y="176479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84648" y="176479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1856" y="176479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180696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806440" y="1806968"/>
            <a:ext cx="304495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43800" y="177496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18%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" y="1952243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" y="1952243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" y="1952243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Optimización de Control de Flota en Flexsys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9272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09/06/2026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3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09/06/2026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4296" y="1952243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99%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4648" y="1952243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1856" y="1952243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806440" y="1994420"/>
            <a:ext cx="1674723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196241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" y="2139696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" y="213969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" y="213969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Mejoras 2do trimestre ciclo de activo fijo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9272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01/04/2026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86783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06/07/2026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4296" y="213969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96%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84648" y="213969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91856" y="213969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806440" y="218187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806440" y="2181872"/>
            <a:ext cx="1623974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800" y="214986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" y="2327148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" y="232714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" y="232714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Carga de fondeos UNIFIN, Bansi y Multiva LUMOSYS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9272" y="232714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15/04/2026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6783" y="232714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54296" y="232714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84648" y="232714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91856" y="232714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806440" y="236932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806440" y="2369324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43800" y="233732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152" y="2514600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" y="251460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" y="251460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Mejoras cartera 2do trimestre 2026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9272" y="251460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01/04/2026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86783" y="251460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08/07/2026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54296" y="251460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87%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84648" y="251460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91856" y="251460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806440" y="255677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806440" y="2556776"/>
            <a:ext cx="1471726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43800" y="252477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87%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" y="2702052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440" y="270205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0392" y="270205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Gasto integral de unidades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2" y="270205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29/04/2026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86783" y="270205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54296" y="270205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84648" y="270205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95%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91856" y="270205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806440" y="274422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806440" y="2744228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543800" y="271222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" y="2889504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1440" y="2889504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0392" y="2889504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Apoyo proyectos IA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9272" y="288950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29/04/2026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86783" y="288950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54296" y="2889504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84648" y="2889504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95%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91856" y="2889504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06440" y="293168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5806440" y="2931680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543800" y="289967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3152" y="3076956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440" y="307695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Analisis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50392" y="307695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Planeación cambio arquitectura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9272" y="307695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29/04/2026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86783" y="307695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54296" y="307695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99%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184648" y="307695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95%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991856" y="307695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806440" y="311913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5806440" y="3119132"/>
            <a:ext cx="1674723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43800" y="308712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99%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152" y="326440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440" y="326440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50392" y="326440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IFRS-Modelo Arrendatario Fase 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9272" y="326440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29/04/2026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86783" y="326440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54296" y="326440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84648" y="326440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95%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991856" y="326440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806440" y="330658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5806440" y="3306584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543800" y="327458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 — Desarrollo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Total de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31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Terminado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 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En riesgo de atraso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Por cerrar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Stand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576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2340"/>
                </a:solidFill>
                <a:latin typeface="Calibri"/>
              </a:rPr>
              <a:t>SOPORTE E INFRAESTRUCTURA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474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Cierre semanal del 16 de Julio al 23 de Julio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1188720"/>
            <a:ext cx="8741664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188720"/>
            <a:ext cx="7223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188720"/>
            <a:ext cx="24323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FIN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1188720"/>
            <a:ext cx="4937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1188720"/>
            <a:ext cx="55778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ESPERADO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1188720"/>
            <a:ext cx="21762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BARRA DE AVANCE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1188720"/>
            <a:ext cx="8046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SEMÁFORO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138988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38988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138988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Migración oficinas Tlalnepantla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01/03/2026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30/07/2026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296" y="138988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78%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38988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138988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06440" y="1432064"/>
            <a:ext cx="1319479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40006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78%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" y="157734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157734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157734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Renovación Firewall / VPN Corporativa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15/02/2026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6783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30/06/2026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157734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50%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157734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65%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157734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59E0B"/>
                </a:solidFill>
                <a:latin typeface="Calibri"/>
              </a:rPr>
              <a:t>Riesgo de atraso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F59E0B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6440" y="1619516"/>
            <a:ext cx="845820" cy="10309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76200" dist="19050" dir="5400000" rotWithShape="0">
              <a:srgbClr val="F59E0B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8751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Calibri"/>
              </a:rPr>
              <a:t>50%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" y="1764792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" y="176479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176479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Data Center Azure — Zona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9272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01/04/2026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86783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31/12/2026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54296" y="176479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35%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84648" y="176479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1856" y="176479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180696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806440" y="1806968"/>
            <a:ext cx="592074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43800" y="177496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35%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" y="1952243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" y="1952243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" y="1952243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Actualización CCTV y Biométricos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9272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01/01/2026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3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28/02/2026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4296" y="1952243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4648" y="1952243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1856" y="1952243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196241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" y="2139696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" y="213969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" y="213969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Red estructurada — Edificio 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9272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15/04/2026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86783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31/08/2026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4296" y="213969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20%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84648" y="213969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40%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91856" y="213969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806440" y="218187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806440" y="2181872"/>
            <a:ext cx="338328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800" y="214986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20%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 — Soporte e Infraestructura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Total de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31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Terminado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 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En riesgo de atraso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Por cerrar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Stand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576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2340"/>
                </a:solidFill>
                <a:latin typeface="Calibri"/>
              </a:rPr>
              <a:t>INTELIGENCIA ARTIFICIAL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474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Cierre semanal del 16 de Julio al 23 de Julio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1188720"/>
            <a:ext cx="8741664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188720"/>
            <a:ext cx="7223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188720"/>
            <a:ext cx="24323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FIN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1188720"/>
            <a:ext cx="4937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1188720"/>
            <a:ext cx="55778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ESPERADO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1188720"/>
            <a:ext cx="21762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BARRA DE AVANCE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1188720"/>
            <a:ext cx="8046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SEMÁFORO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138988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38988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138988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venta de tickets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07/04/2026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04/08/2026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296" y="138988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38988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138988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06440" y="1432064"/>
            <a:ext cx="1590141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40006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94%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" y="157734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157734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157734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sistema hub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07/04/2026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6783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20/07/2026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157734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157734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157734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6440" y="1619516"/>
            <a:ext cx="1522476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8751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 — IA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c0e631-0115-4aa2-b325-e35da8bc1157">
      <Terms xmlns="http://schemas.microsoft.com/office/infopath/2007/PartnerControls"/>
    </lcf76f155ced4ddcb4097134ff3c332f>
    <id0 xmlns="5ec0e631-0115-4aa2-b325-e35da8bc1157" xsi:nil="true"/>
    <TaxCatchAll xmlns="c4be84e9-ad72-42e9-9325-7cb3e83c5359" xsi:nil="true"/>
    <_Flow_SignoffStatus xmlns="5ec0e631-0115-4aa2-b325-e35da8bc1157" xsi:nil="true"/>
    <Aprobador xmlns="5ec0e631-0115-4aa2-b325-e35da8bc1157">
      <UserInfo>
        <DisplayName/>
        <AccountId xsi:nil="true"/>
        <AccountType/>
      </UserInfo>
    </Aprobado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4FF43CDF08F6440A1F1A99854740847" ma:contentTypeVersion="19" ma:contentTypeDescription="Crear nuevo documento." ma:contentTypeScope="" ma:versionID="36345ead785e5e95854362ebc1a7f665">
  <xsd:schema xmlns:xsd="http://www.w3.org/2001/XMLSchema" xmlns:xs="http://www.w3.org/2001/XMLSchema" xmlns:p="http://schemas.microsoft.com/office/2006/metadata/properties" xmlns:ns2="5ec0e631-0115-4aa2-b325-e35da8bc1157" xmlns:ns3="c4be84e9-ad72-42e9-9325-7cb3e83c5359" targetNamespace="http://schemas.microsoft.com/office/2006/metadata/properties" ma:root="true" ma:fieldsID="b08145743ca8d0102314d44d7c23bcf1" ns2:_="" ns3:_="">
    <xsd:import namespace="5ec0e631-0115-4aa2-b325-e35da8bc1157"/>
    <xsd:import namespace="c4be84e9-ad72-42e9-9325-7cb3e83c53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id0" minOccurs="0"/>
                <xsd:element ref="ns2:_Flow_SignoffStatus" minOccurs="0"/>
                <xsd:element ref="ns2:Aprobado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0e631-0115-4aa2-b325-e35da8bc1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8834a441-fa3b-44b8-a010-15bd89cb74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d0" ma:index="23" nillable="true" ma:displayName="id" ma:decimals="0" ma:description="id de requerimiento" ma:format="Dropdown" ma:internalName="id0" ma:percentage="FALSE">
      <xsd:simpleType>
        <xsd:restriction base="dms:Number"/>
      </xsd:simpleType>
    </xsd:element>
    <xsd:element name="_Flow_SignoffStatus" ma:index="24" nillable="true" ma:displayName="Estado de aprobación" ma:internalName="_x0024_Resources_x003a_core_x002c_Signoff_Status">
      <xsd:simpleType>
        <xsd:restriction base="dms:Text"/>
      </xsd:simpleType>
    </xsd:element>
    <xsd:element name="Aprobador" ma:index="25" nillable="true" ma:displayName="Aprobador" ma:description="Aprobador de documento" ma:format="Dropdown" ma:list="UserInfo" ma:SharePointGroup="0" ma:internalName="Aprobad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e84e9-ad72-42e9-9325-7cb3e83c535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32b7c09-4aae-4a05-ba98-f7962d39acc2}" ma:internalName="TaxCatchAll" ma:showField="CatchAllData" ma:web="c4be84e9-ad72-42e9-9325-7cb3e83c53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8C067-F2CA-4E2D-84AE-65F44561D919}">
  <ds:schemaRefs>
    <ds:schemaRef ds:uri="http://purl.org/dc/elements/1.1/"/>
    <ds:schemaRef ds:uri="5ec0e631-0115-4aa2-b325-e35da8bc1157"/>
    <ds:schemaRef ds:uri="c4be84e9-ad72-42e9-9325-7cb3e83c5359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3B017FA-E3D9-408C-B068-F9490265D9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c0e631-0115-4aa2-b325-e35da8bc1157"/>
    <ds:schemaRef ds:uri="c4be84e9-ad72-42e9-9325-7cb3e83c53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315BF7-524B-4E01-980F-F112088215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148</Words>
  <Application>Microsoft Office PowerPoint</Application>
  <PresentationFormat>Presentación en pantalla (16:9)</PresentationFormat>
  <Paragraphs>23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Aptos</vt:lpstr>
      <vt:lpstr>Aptos (cuerpo)</vt:lpstr>
      <vt:lpstr>Aptos Display</vt:lpstr>
      <vt:lpstr>Arial</vt:lpstr>
      <vt:lpstr>Arial Nova Light</vt:lpstr>
      <vt:lpstr>Calibri</vt:lpstr>
      <vt:lpstr>Myriad Pro</vt:lpstr>
      <vt:lpstr>Segoe UI</vt:lpstr>
      <vt:lpstr>Office Theme</vt:lpstr>
      <vt:lpstr>Diseño personalizado</vt:lpstr>
      <vt:lpstr>Dirección de Implementación y Mejora Continua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Josue Montoya Martinez</dc:creator>
  <cp:keywords/>
  <cp:lastModifiedBy>Josue Montoya Martinez</cp:lastModifiedBy>
  <cp:revision>2</cp:revision>
  <dcterms:created xsi:type="dcterms:W3CDTF">2013-01-27T09:14:16Z</dcterms:created>
  <dcterms:modified xsi:type="dcterms:W3CDTF">2026-06-05T16:05:29Z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0x01010004FF43CDF08F6440A1F1A99854740847</vt:lpwstr>
  </property>
  <property fmtid="{D5CDD505-2E9C-101B-9397-08002B2CF9AE}" pid="3" name="MediaServiceImageTags">
    <vt:lpwstr/>
  </property>
</Properties>
</file>